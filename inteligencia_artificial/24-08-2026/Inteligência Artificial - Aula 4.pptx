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644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18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81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672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471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34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094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245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896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12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3489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68A78-D381-4DAD-8E87-6DD1714E9ADB}" type="datetimeFigureOut">
              <a:rPr lang="pt-BR" smtClean="0"/>
              <a:t>24/02/2016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B5896-BFA4-499F-80F0-B61FEE00D1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42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Inteligência Artificial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Busca em Profundidade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4727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em Profundidade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Este tipo de busca sempre expandir para o nó em nível mais profundo, ou seja, o nó filho. </a:t>
            </a:r>
          </a:p>
          <a:p>
            <a:pPr marL="0" indent="0">
              <a:buNone/>
            </a:pPr>
            <a:r>
              <a:rPr lang="pt-BR" dirty="0" smtClean="0"/>
              <a:t>A busca sempre será irá expandir até atingir um ponto sem saída, e assim volta a um nó mais raso para assim prosseguir para outro caminho.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Esta estratégia de busca pode ser implementada usando a </a:t>
            </a:r>
            <a:r>
              <a:rPr lang="pt-BR" dirty="0" err="1" smtClean="0"/>
              <a:t>ArvoreGeral</a:t>
            </a:r>
            <a:r>
              <a:rPr lang="pt-BR" dirty="0"/>
              <a:t> </a:t>
            </a:r>
            <a:r>
              <a:rPr lang="pt-BR" dirty="0" smtClean="0"/>
              <a:t>usando a função de filas, colocando assim os estados gerados no inicio da fila.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531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em Profundidade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1275596" y="1906585"/>
            <a:ext cx="470577" cy="4705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/>
          <p:cNvSpPr/>
          <p:nvPr/>
        </p:nvSpPr>
        <p:spPr>
          <a:xfrm>
            <a:off x="6926687" y="254106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/>
          <p:cNvSpPr/>
          <p:nvPr/>
        </p:nvSpPr>
        <p:spPr>
          <a:xfrm>
            <a:off x="7287295" y="2163650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7647904" y="254106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/>
          <p:cNvSpPr/>
          <p:nvPr/>
        </p:nvSpPr>
        <p:spPr>
          <a:xfrm>
            <a:off x="6538173" y="296680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lipse 9"/>
          <p:cNvSpPr/>
          <p:nvPr/>
        </p:nvSpPr>
        <p:spPr>
          <a:xfrm>
            <a:off x="7259390" y="296680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9257763" y="2557870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9618371" y="2180456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9978980" y="2557870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8869249" y="2983610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/>
          <p:cNvSpPr/>
          <p:nvPr/>
        </p:nvSpPr>
        <p:spPr>
          <a:xfrm>
            <a:off x="9590466" y="2983610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8493615" y="344578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/>
          <p:cNvSpPr/>
          <p:nvPr/>
        </p:nvSpPr>
        <p:spPr>
          <a:xfrm>
            <a:off x="9214832" y="3445784"/>
            <a:ext cx="154547" cy="1545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1" name="Conector reto 20"/>
          <p:cNvCxnSpPr>
            <a:stCxn id="7" idx="4"/>
            <a:endCxn id="6" idx="0"/>
          </p:cNvCxnSpPr>
          <p:nvPr/>
        </p:nvCxnSpPr>
        <p:spPr>
          <a:xfrm flipH="1">
            <a:off x="7003961" y="2318197"/>
            <a:ext cx="360608" cy="2228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6" idx="4"/>
            <a:endCxn id="9" idx="0"/>
          </p:cNvCxnSpPr>
          <p:nvPr/>
        </p:nvCxnSpPr>
        <p:spPr>
          <a:xfrm flipH="1">
            <a:off x="6615447" y="2695611"/>
            <a:ext cx="388514" cy="271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7" idx="4"/>
            <a:endCxn id="8" idx="0"/>
          </p:cNvCxnSpPr>
          <p:nvPr/>
        </p:nvCxnSpPr>
        <p:spPr>
          <a:xfrm>
            <a:off x="7364569" y="2318197"/>
            <a:ext cx="360609" cy="2228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/>
          <p:cNvCxnSpPr>
            <a:stCxn id="6" idx="4"/>
            <a:endCxn id="10" idx="0"/>
          </p:cNvCxnSpPr>
          <p:nvPr/>
        </p:nvCxnSpPr>
        <p:spPr>
          <a:xfrm>
            <a:off x="7003961" y="2695611"/>
            <a:ext cx="332703" cy="271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/>
          <p:cNvCxnSpPr>
            <a:stCxn id="12" idx="4"/>
            <a:endCxn id="11" idx="0"/>
          </p:cNvCxnSpPr>
          <p:nvPr/>
        </p:nvCxnSpPr>
        <p:spPr>
          <a:xfrm flipH="1">
            <a:off x="9335037" y="2335003"/>
            <a:ext cx="360608" cy="2228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11" idx="4"/>
            <a:endCxn id="14" idx="0"/>
          </p:cNvCxnSpPr>
          <p:nvPr/>
        </p:nvCxnSpPr>
        <p:spPr>
          <a:xfrm flipH="1">
            <a:off x="8946523" y="2712417"/>
            <a:ext cx="388514" cy="271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/>
          <p:cNvCxnSpPr>
            <a:stCxn id="11" idx="4"/>
            <a:endCxn id="15" idx="0"/>
          </p:cNvCxnSpPr>
          <p:nvPr/>
        </p:nvCxnSpPr>
        <p:spPr>
          <a:xfrm>
            <a:off x="9335037" y="2712417"/>
            <a:ext cx="332703" cy="271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12" idx="4"/>
            <a:endCxn id="13" idx="0"/>
          </p:cNvCxnSpPr>
          <p:nvPr/>
        </p:nvCxnSpPr>
        <p:spPr>
          <a:xfrm>
            <a:off x="9695645" y="2335003"/>
            <a:ext cx="360609" cy="2228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/>
          <p:cNvCxnSpPr>
            <a:stCxn id="14" idx="4"/>
            <a:endCxn id="16" idx="0"/>
          </p:cNvCxnSpPr>
          <p:nvPr/>
        </p:nvCxnSpPr>
        <p:spPr>
          <a:xfrm flipH="1">
            <a:off x="8570889" y="3138157"/>
            <a:ext cx="375634" cy="3076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14" idx="4"/>
            <a:endCxn id="17" idx="0"/>
          </p:cNvCxnSpPr>
          <p:nvPr/>
        </p:nvCxnSpPr>
        <p:spPr>
          <a:xfrm>
            <a:off x="8946523" y="3138157"/>
            <a:ext cx="345583" cy="30762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Grupo 65"/>
          <p:cNvGrpSpPr/>
          <p:nvPr/>
        </p:nvGrpSpPr>
        <p:grpSpPr>
          <a:xfrm flipH="1">
            <a:off x="3820886" y="4367106"/>
            <a:ext cx="1238248" cy="1170176"/>
            <a:chOff x="248453" y="3206111"/>
            <a:chExt cx="1264278" cy="957701"/>
          </a:xfrm>
        </p:grpSpPr>
        <p:sp>
          <p:nvSpPr>
            <p:cNvPr id="42" name="Elipse 41"/>
            <p:cNvSpPr/>
            <p:nvPr/>
          </p:nvSpPr>
          <p:spPr>
            <a:xfrm>
              <a:off x="636967" y="358352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/>
            <p:cNvSpPr/>
            <p:nvPr/>
          </p:nvSpPr>
          <p:spPr>
            <a:xfrm>
              <a:off x="997575" y="320611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4" name="Elipse 43"/>
            <p:cNvSpPr/>
            <p:nvPr/>
          </p:nvSpPr>
          <p:spPr>
            <a:xfrm>
              <a:off x="1358184" y="358352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5" name="Elipse 44"/>
            <p:cNvSpPr/>
            <p:nvPr/>
          </p:nvSpPr>
          <p:spPr>
            <a:xfrm>
              <a:off x="248453" y="400926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6" name="Elipse 45"/>
            <p:cNvSpPr/>
            <p:nvPr/>
          </p:nvSpPr>
          <p:spPr>
            <a:xfrm>
              <a:off x="969670" y="400926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4" name="Conector reto 53"/>
            <p:cNvCxnSpPr>
              <a:stCxn id="43" idx="4"/>
              <a:endCxn id="42" idx="0"/>
            </p:cNvCxnSpPr>
            <p:nvPr/>
          </p:nvCxnSpPr>
          <p:spPr>
            <a:xfrm flipH="1">
              <a:off x="714241" y="3360658"/>
              <a:ext cx="360608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to 54"/>
            <p:cNvCxnSpPr>
              <a:stCxn id="42" idx="4"/>
              <a:endCxn id="45" idx="0"/>
            </p:cNvCxnSpPr>
            <p:nvPr/>
          </p:nvCxnSpPr>
          <p:spPr>
            <a:xfrm flipH="1">
              <a:off x="325727" y="3738072"/>
              <a:ext cx="388514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ector reto 55"/>
            <p:cNvCxnSpPr>
              <a:stCxn id="43" idx="4"/>
              <a:endCxn id="44" idx="0"/>
            </p:cNvCxnSpPr>
            <p:nvPr/>
          </p:nvCxnSpPr>
          <p:spPr>
            <a:xfrm>
              <a:off x="1074849" y="3360658"/>
              <a:ext cx="360609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ector reto 56"/>
            <p:cNvCxnSpPr>
              <a:stCxn id="42" idx="4"/>
              <a:endCxn id="46" idx="0"/>
            </p:cNvCxnSpPr>
            <p:nvPr/>
          </p:nvCxnSpPr>
          <p:spPr>
            <a:xfrm>
              <a:off x="714241" y="3738072"/>
              <a:ext cx="332703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upo 64"/>
          <p:cNvGrpSpPr/>
          <p:nvPr/>
        </p:nvGrpSpPr>
        <p:grpSpPr>
          <a:xfrm flipH="1">
            <a:off x="389136" y="4367106"/>
            <a:ext cx="1874822" cy="1653849"/>
            <a:chOff x="2203895" y="3222917"/>
            <a:chExt cx="1639912" cy="1419875"/>
          </a:xfrm>
        </p:grpSpPr>
        <p:sp>
          <p:nvSpPr>
            <p:cNvPr id="47" name="Elipse 46"/>
            <p:cNvSpPr/>
            <p:nvPr/>
          </p:nvSpPr>
          <p:spPr>
            <a:xfrm>
              <a:off x="2968043" y="360033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8" name="Elipse 47"/>
            <p:cNvSpPr/>
            <p:nvPr/>
          </p:nvSpPr>
          <p:spPr>
            <a:xfrm>
              <a:off x="3328651" y="3222917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9" name="Elipse 48"/>
            <p:cNvSpPr/>
            <p:nvPr/>
          </p:nvSpPr>
          <p:spPr>
            <a:xfrm>
              <a:off x="3689260" y="360033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0" name="Elipse 49"/>
            <p:cNvSpPr/>
            <p:nvPr/>
          </p:nvSpPr>
          <p:spPr>
            <a:xfrm>
              <a:off x="2579529" y="402607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1" name="Elipse 50"/>
            <p:cNvSpPr/>
            <p:nvPr/>
          </p:nvSpPr>
          <p:spPr>
            <a:xfrm>
              <a:off x="3300746" y="402607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Elipse 51"/>
            <p:cNvSpPr/>
            <p:nvPr/>
          </p:nvSpPr>
          <p:spPr>
            <a:xfrm>
              <a:off x="2203895" y="448824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3" name="Elipse 52"/>
            <p:cNvSpPr/>
            <p:nvPr/>
          </p:nvSpPr>
          <p:spPr>
            <a:xfrm>
              <a:off x="2925112" y="448824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58" name="Conector reto 57"/>
            <p:cNvCxnSpPr>
              <a:stCxn id="48" idx="4"/>
              <a:endCxn id="47" idx="0"/>
            </p:cNvCxnSpPr>
            <p:nvPr/>
          </p:nvCxnSpPr>
          <p:spPr>
            <a:xfrm flipH="1">
              <a:off x="3045317" y="3377464"/>
              <a:ext cx="360608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reto 58"/>
            <p:cNvCxnSpPr>
              <a:stCxn id="47" idx="4"/>
              <a:endCxn id="50" idx="0"/>
            </p:cNvCxnSpPr>
            <p:nvPr/>
          </p:nvCxnSpPr>
          <p:spPr>
            <a:xfrm flipH="1">
              <a:off x="2656803" y="3754878"/>
              <a:ext cx="388514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to 59"/>
            <p:cNvCxnSpPr>
              <a:stCxn id="47" idx="4"/>
              <a:endCxn id="51" idx="0"/>
            </p:cNvCxnSpPr>
            <p:nvPr/>
          </p:nvCxnSpPr>
          <p:spPr>
            <a:xfrm>
              <a:off x="3045317" y="3754878"/>
              <a:ext cx="332703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ector reto 60"/>
            <p:cNvCxnSpPr>
              <a:stCxn id="48" idx="4"/>
              <a:endCxn id="49" idx="0"/>
            </p:cNvCxnSpPr>
            <p:nvPr/>
          </p:nvCxnSpPr>
          <p:spPr>
            <a:xfrm>
              <a:off x="3405925" y="3377464"/>
              <a:ext cx="360609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to 61"/>
            <p:cNvCxnSpPr>
              <a:stCxn id="50" idx="4"/>
              <a:endCxn id="52" idx="0"/>
            </p:cNvCxnSpPr>
            <p:nvPr/>
          </p:nvCxnSpPr>
          <p:spPr>
            <a:xfrm flipH="1">
              <a:off x="2281169" y="4180618"/>
              <a:ext cx="375634" cy="3076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to 62"/>
            <p:cNvCxnSpPr>
              <a:stCxn id="50" idx="4"/>
              <a:endCxn id="53" idx="0"/>
            </p:cNvCxnSpPr>
            <p:nvPr/>
          </p:nvCxnSpPr>
          <p:spPr>
            <a:xfrm>
              <a:off x="2656803" y="4180618"/>
              <a:ext cx="345583" cy="3076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upo 100"/>
          <p:cNvGrpSpPr/>
          <p:nvPr/>
        </p:nvGrpSpPr>
        <p:grpSpPr>
          <a:xfrm>
            <a:off x="6616062" y="4367106"/>
            <a:ext cx="1445380" cy="1670656"/>
            <a:chOff x="4243075" y="4403719"/>
            <a:chExt cx="1445380" cy="1670656"/>
          </a:xfrm>
        </p:grpSpPr>
        <p:sp>
          <p:nvSpPr>
            <p:cNvPr id="68" name="Elipse 67"/>
            <p:cNvSpPr/>
            <p:nvPr/>
          </p:nvSpPr>
          <p:spPr>
            <a:xfrm flipH="1">
              <a:off x="5067603" y="4843325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69" name="Elipse 68"/>
            <p:cNvSpPr/>
            <p:nvPr/>
          </p:nvSpPr>
          <p:spPr>
            <a:xfrm flipH="1">
              <a:off x="4655340" y="4403719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0" name="Elipse 69"/>
            <p:cNvSpPr/>
            <p:nvPr/>
          </p:nvSpPr>
          <p:spPr>
            <a:xfrm flipH="1">
              <a:off x="4243075" y="4843325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1" name="Elipse 70"/>
            <p:cNvSpPr/>
            <p:nvPr/>
          </p:nvSpPr>
          <p:spPr>
            <a:xfrm flipH="1">
              <a:off x="5511770" y="5339221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2" name="Elipse 71"/>
            <p:cNvSpPr/>
            <p:nvPr/>
          </p:nvSpPr>
          <p:spPr>
            <a:xfrm flipH="1">
              <a:off x="4687242" y="5339221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3" name="Elipse 72"/>
            <p:cNvSpPr/>
            <p:nvPr/>
          </p:nvSpPr>
          <p:spPr>
            <a:xfrm flipH="1">
              <a:off x="4979260" y="5894361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sp>
          <p:nvSpPr>
            <p:cNvPr id="74" name="Elipse 73"/>
            <p:cNvSpPr/>
            <p:nvPr/>
          </p:nvSpPr>
          <p:spPr>
            <a:xfrm flipH="1">
              <a:off x="4343943" y="5859848"/>
              <a:ext cx="176685" cy="18001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pt-BR"/>
            </a:p>
          </p:txBody>
        </p:sp>
        <p:cxnSp>
          <p:nvCxnSpPr>
            <p:cNvPr id="75" name="Conector reto 74"/>
            <p:cNvCxnSpPr>
              <a:stCxn id="69" idx="4"/>
              <a:endCxn id="68" idx="0"/>
            </p:cNvCxnSpPr>
            <p:nvPr/>
          </p:nvCxnSpPr>
          <p:spPr>
            <a:xfrm>
              <a:off x="4743682" y="4583733"/>
              <a:ext cx="412263" cy="25959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to 75"/>
            <p:cNvCxnSpPr>
              <a:stCxn id="68" idx="4"/>
              <a:endCxn id="71" idx="0"/>
            </p:cNvCxnSpPr>
            <p:nvPr/>
          </p:nvCxnSpPr>
          <p:spPr>
            <a:xfrm>
              <a:off x="5155945" y="5023339"/>
              <a:ext cx="444167" cy="3158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to 76"/>
            <p:cNvCxnSpPr>
              <a:stCxn id="68" idx="4"/>
              <a:endCxn id="72" idx="0"/>
            </p:cNvCxnSpPr>
            <p:nvPr/>
          </p:nvCxnSpPr>
          <p:spPr>
            <a:xfrm flipH="1">
              <a:off x="4775584" y="5023339"/>
              <a:ext cx="380361" cy="31588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to 77"/>
            <p:cNvCxnSpPr>
              <a:stCxn id="69" idx="4"/>
              <a:endCxn id="70" idx="0"/>
            </p:cNvCxnSpPr>
            <p:nvPr/>
          </p:nvCxnSpPr>
          <p:spPr>
            <a:xfrm flipH="1">
              <a:off x="4331417" y="4583733"/>
              <a:ext cx="412265" cy="259592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to 78"/>
            <p:cNvCxnSpPr>
              <a:stCxn id="72" idx="4"/>
              <a:endCxn id="73" idx="0"/>
            </p:cNvCxnSpPr>
            <p:nvPr/>
          </p:nvCxnSpPr>
          <p:spPr>
            <a:xfrm>
              <a:off x="4775584" y="5519235"/>
              <a:ext cx="292018" cy="37512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to 79"/>
            <p:cNvCxnSpPr>
              <a:stCxn id="72" idx="4"/>
              <a:endCxn id="74" idx="0"/>
            </p:cNvCxnSpPr>
            <p:nvPr/>
          </p:nvCxnSpPr>
          <p:spPr>
            <a:xfrm flipH="1">
              <a:off x="4432285" y="5519235"/>
              <a:ext cx="343299" cy="34061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Grupo 86"/>
          <p:cNvGrpSpPr/>
          <p:nvPr/>
        </p:nvGrpSpPr>
        <p:grpSpPr>
          <a:xfrm flipH="1">
            <a:off x="9618371" y="4367106"/>
            <a:ext cx="1874822" cy="1653849"/>
            <a:chOff x="2203895" y="3222917"/>
            <a:chExt cx="1639912" cy="1419875"/>
          </a:xfrm>
        </p:grpSpPr>
        <p:sp>
          <p:nvSpPr>
            <p:cNvPr id="88" name="Elipse 87"/>
            <p:cNvSpPr/>
            <p:nvPr/>
          </p:nvSpPr>
          <p:spPr>
            <a:xfrm>
              <a:off x="2968043" y="360033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9" name="Elipse 88"/>
            <p:cNvSpPr/>
            <p:nvPr/>
          </p:nvSpPr>
          <p:spPr>
            <a:xfrm>
              <a:off x="3328651" y="3222917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Elipse 89"/>
            <p:cNvSpPr/>
            <p:nvPr/>
          </p:nvSpPr>
          <p:spPr>
            <a:xfrm>
              <a:off x="3689260" y="360033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1" name="Elipse 90"/>
            <p:cNvSpPr/>
            <p:nvPr/>
          </p:nvSpPr>
          <p:spPr>
            <a:xfrm>
              <a:off x="2579529" y="402607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2" name="Elipse 91"/>
            <p:cNvSpPr/>
            <p:nvPr/>
          </p:nvSpPr>
          <p:spPr>
            <a:xfrm>
              <a:off x="3300746" y="4026071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3" name="Elipse 92"/>
            <p:cNvSpPr/>
            <p:nvPr/>
          </p:nvSpPr>
          <p:spPr>
            <a:xfrm>
              <a:off x="2203895" y="448824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4" name="Elipse 93"/>
            <p:cNvSpPr/>
            <p:nvPr/>
          </p:nvSpPr>
          <p:spPr>
            <a:xfrm>
              <a:off x="2925112" y="4488245"/>
              <a:ext cx="154547" cy="15454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95" name="Conector reto 94"/>
            <p:cNvCxnSpPr>
              <a:stCxn id="89" idx="4"/>
              <a:endCxn id="88" idx="0"/>
            </p:cNvCxnSpPr>
            <p:nvPr/>
          </p:nvCxnSpPr>
          <p:spPr>
            <a:xfrm flipH="1">
              <a:off x="3045317" y="3377464"/>
              <a:ext cx="360608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to 95"/>
            <p:cNvCxnSpPr>
              <a:stCxn id="88" idx="4"/>
              <a:endCxn id="91" idx="0"/>
            </p:cNvCxnSpPr>
            <p:nvPr/>
          </p:nvCxnSpPr>
          <p:spPr>
            <a:xfrm flipH="1">
              <a:off x="2656803" y="3754878"/>
              <a:ext cx="388514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to 96"/>
            <p:cNvCxnSpPr>
              <a:stCxn id="88" idx="4"/>
              <a:endCxn id="92" idx="0"/>
            </p:cNvCxnSpPr>
            <p:nvPr/>
          </p:nvCxnSpPr>
          <p:spPr>
            <a:xfrm>
              <a:off x="3045317" y="3754878"/>
              <a:ext cx="332703" cy="27119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97"/>
            <p:cNvCxnSpPr>
              <a:stCxn id="89" idx="4"/>
              <a:endCxn id="90" idx="0"/>
            </p:cNvCxnSpPr>
            <p:nvPr/>
          </p:nvCxnSpPr>
          <p:spPr>
            <a:xfrm>
              <a:off x="3405925" y="3377464"/>
              <a:ext cx="360609" cy="22286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to 98"/>
            <p:cNvCxnSpPr>
              <a:stCxn id="91" idx="4"/>
              <a:endCxn id="93" idx="0"/>
            </p:cNvCxnSpPr>
            <p:nvPr/>
          </p:nvCxnSpPr>
          <p:spPr>
            <a:xfrm flipH="1">
              <a:off x="2281169" y="4180618"/>
              <a:ext cx="375634" cy="3076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to 99"/>
            <p:cNvCxnSpPr>
              <a:stCxn id="91" idx="4"/>
              <a:endCxn id="94" idx="0"/>
            </p:cNvCxnSpPr>
            <p:nvPr/>
          </p:nvCxnSpPr>
          <p:spPr>
            <a:xfrm>
              <a:off x="2656803" y="4180618"/>
              <a:ext cx="345583" cy="30762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" name="CaixaDeTexto 101"/>
          <p:cNvSpPr txBox="1"/>
          <p:nvPr/>
        </p:nvSpPr>
        <p:spPr>
          <a:xfrm>
            <a:off x="2176632" y="509225"/>
            <a:ext cx="2313454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700" dirty="0" smtClean="0"/>
              <a:t>A</a:t>
            </a:r>
            <a:endParaRPr lang="pt-BR" sz="28700" dirty="0"/>
          </a:p>
        </p:txBody>
      </p:sp>
    </p:spTree>
    <p:extLst>
      <p:ext uri="{BB962C8B-B14F-4D97-AF65-F5344CB8AC3E}">
        <p14:creationId xmlns:p14="http://schemas.microsoft.com/office/powerpoint/2010/main" val="159939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em Profundidade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smtClean="0"/>
              <a:t>A busca em profundidade tem um custo de processamento e de memoria menor que a busca em largura, pois a estratégia de busca visa a partir do nó raiz seguir um único percurso para o nó folha (objetivo ou falha), e dai por diante armazenar os nós irmãos.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Em comparação com a busca em largura, caso a busca seja realizada com uma arvore de profundidade  12 temos: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b="1" dirty="0"/>
              <a:t>Problema: </a:t>
            </a:r>
            <a:r>
              <a:rPr lang="pt-BR" dirty="0"/>
              <a:t>O algoritmo pode fazer uma busca muito longa mesmo quando a resposta do problema esta localizado a poucos nós da raiz da árvore.</a:t>
            </a:r>
            <a:endParaRPr lang="pt-BR" dirty="0" smtClean="0"/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244397"/>
              </p:ext>
            </p:extLst>
          </p:nvPr>
        </p:nvGraphicFramePr>
        <p:xfrm>
          <a:off x="1529725" y="4446257"/>
          <a:ext cx="8128000" cy="741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Busca Largura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Busca Profundidade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111 TB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12 KB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3658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em Profundidade Interativo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pt-BR" dirty="0"/>
              <a:t>Consiste em uma busca em profundidade onde </a:t>
            </a:r>
            <a:r>
              <a:rPr lang="pt-BR" dirty="0" smtClean="0"/>
              <a:t>o limite de profundidade </a:t>
            </a:r>
            <a:r>
              <a:rPr lang="pt-BR" dirty="0"/>
              <a:t>é incrementado </a:t>
            </a:r>
            <a:r>
              <a:rPr lang="pt-BR" dirty="0" smtClean="0"/>
              <a:t>gradualmente</a:t>
            </a:r>
            <a:r>
              <a:rPr lang="pt-BR" dirty="0"/>
              <a:t>;</a:t>
            </a:r>
            <a:endParaRPr lang="pt-BR" dirty="0" smtClean="0"/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r>
              <a:rPr lang="pt-BR" dirty="0" smtClean="0"/>
              <a:t>O maior beneficio é que a busca com profundidade interativo combina a busca em profundidade com a busca em largura;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Evita problemas de caminhos longos  ou infinitos;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A expansão dos nós das arvores repetidas vezes não é tão ruim, pois as expansões ocorrem na maior parte nos níveis mais baixos;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Este método é um dos melhores a ser usado quando não se sabe a profundidade de solução e quando o espaço de busca é grande.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5504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em Profundidade Interativo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69" y="1491598"/>
            <a:ext cx="11276605" cy="52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22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Considerando o seguinte labirinto e dispondo os estados sucessores na seguinte ordem: norte, leste, oeste, sul. </a:t>
            </a:r>
            <a:endParaRPr lang="pt-BR" dirty="0" smtClean="0"/>
          </a:p>
          <a:p>
            <a:pPr marL="514350" indent="-514350">
              <a:buAutoNum type="alphaLcParenR"/>
            </a:pPr>
            <a:r>
              <a:rPr lang="pt-BR" dirty="0" smtClean="0"/>
              <a:t>Em </a:t>
            </a:r>
            <a:r>
              <a:rPr lang="pt-BR" dirty="0"/>
              <a:t>qual ordem uma busca em profundidade visita as salas do labirinto</a:t>
            </a:r>
            <a:r>
              <a:rPr lang="pt-BR" dirty="0" smtClean="0"/>
              <a:t>?</a:t>
            </a:r>
          </a:p>
          <a:p>
            <a:pPr marL="514350" indent="-514350">
              <a:buAutoNum type="alphaLcParenR"/>
            </a:pPr>
            <a:r>
              <a:rPr lang="pt-BR" dirty="0" smtClean="0"/>
              <a:t>Em </a:t>
            </a:r>
            <a:r>
              <a:rPr lang="pt-BR" dirty="0"/>
              <a:t>qual ordem uma busca em largura visita as salas do labirinto? </a:t>
            </a:r>
            <a:endParaRPr lang="pt-BR" dirty="0" smtClean="0"/>
          </a:p>
          <a:p>
            <a:pPr marL="514350" indent="-514350">
              <a:buAutoNum type="alphaLcParenR"/>
            </a:pPr>
            <a:r>
              <a:rPr lang="pt-BR" dirty="0" smtClean="0"/>
              <a:t>Utilize a busca em profundidade iterativo para passar </a:t>
            </a:r>
          </a:p>
          <a:p>
            <a:pPr marL="0" indent="0">
              <a:buNone/>
            </a:pPr>
            <a:r>
              <a:rPr lang="pt-BR" dirty="0" smtClean="0"/>
              <a:t>ao labirinto e a sequencia a ser utilizada.</a:t>
            </a:r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9324305" y="4001294"/>
            <a:ext cx="2714323" cy="2702635"/>
            <a:chOff x="7572778" y="4001294"/>
            <a:chExt cx="2714323" cy="2702635"/>
          </a:xfrm>
        </p:grpSpPr>
        <p:sp>
          <p:nvSpPr>
            <p:cNvPr id="5" name="Retângulo 4"/>
            <p:cNvSpPr/>
            <p:nvPr/>
          </p:nvSpPr>
          <p:spPr>
            <a:xfrm>
              <a:off x="7572778" y="4001294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A</a:t>
              </a:r>
              <a:endParaRPr lang="pt-BR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8113033" y="4001294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B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653033" y="4001294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C</a:t>
              </a:r>
              <a:endParaRPr lang="pt-BR" dirty="0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9193033" y="4001294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D</a:t>
              </a:r>
              <a:endParaRPr lang="pt-BR" dirty="0"/>
            </a:p>
          </p:txBody>
        </p:sp>
        <p:sp>
          <p:nvSpPr>
            <p:cNvPr id="9" name="Retângulo 8"/>
            <p:cNvSpPr/>
            <p:nvPr/>
          </p:nvSpPr>
          <p:spPr>
            <a:xfrm>
              <a:off x="9733544" y="4001294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400" dirty="0" smtClean="0"/>
                <a:t>E</a:t>
              </a:r>
              <a:endParaRPr lang="pt-BR" sz="3600" dirty="0" smtClean="0"/>
            </a:p>
            <a:p>
              <a:pPr algn="ctr"/>
              <a:r>
                <a:rPr lang="pt-BR" sz="700" dirty="0" smtClean="0"/>
                <a:t>OBJETIVO</a:t>
              </a:r>
              <a:endParaRPr lang="pt-BR" sz="600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7572778" y="455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F</a:t>
              </a:r>
              <a:endParaRPr lang="pt-BR" dirty="0"/>
            </a:p>
          </p:txBody>
        </p:sp>
        <p:sp>
          <p:nvSpPr>
            <p:cNvPr id="11" name="Retângulo 10"/>
            <p:cNvSpPr/>
            <p:nvPr/>
          </p:nvSpPr>
          <p:spPr>
            <a:xfrm>
              <a:off x="8113033" y="455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G</a:t>
              </a:r>
              <a:endParaRPr lang="pt-BR" dirty="0"/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8653033" y="455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H</a:t>
              </a:r>
              <a:endParaRPr lang="pt-BR" dirty="0"/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9193033" y="455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I</a:t>
              </a:r>
              <a:endParaRPr lang="pt-BR" dirty="0"/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9733544" y="455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J</a:t>
              </a:r>
              <a:endParaRPr lang="pt-BR" dirty="0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7572778" y="509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K</a:t>
              </a:r>
              <a:endParaRPr lang="pt-BR" dirty="0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8113033" y="509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L</a:t>
              </a:r>
              <a:endParaRPr lang="pt-BR" dirty="0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653033" y="509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M</a:t>
              </a:r>
              <a:endParaRPr lang="pt-BR" dirty="0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9193033" y="509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N</a:t>
              </a:r>
              <a:endParaRPr lang="pt-BR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9733544" y="5095645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O</a:t>
              </a:r>
              <a:endParaRPr lang="pt-BR" dirty="0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7572778" y="5622611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P</a:t>
              </a:r>
              <a:endParaRPr lang="pt-BR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8113033" y="5622611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Q</a:t>
              </a:r>
              <a:endParaRPr lang="pt-BR" dirty="0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8653033" y="5622611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R</a:t>
              </a:r>
              <a:endParaRPr lang="pt-BR" dirty="0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9193033" y="5622611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S</a:t>
              </a:r>
              <a:endParaRPr lang="pt-BR" dirty="0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9733544" y="5622611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T</a:t>
              </a:r>
              <a:endParaRPr lang="pt-BR" dirty="0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7572778" y="6163929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2800" dirty="0" smtClean="0"/>
                <a:t>U</a:t>
              </a:r>
              <a:endParaRPr lang="pt-BR" sz="900" dirty="0" smtClean="0"/>
            </a:p>
            <a:p>
              <a:pPr algn="ctr"/>
              <a:r>
                <a:rPr lang="pt-BR" sz="1050" dirty="0" smtClean="0"/>
                <a:t>INICIO</a:t>
              </a:r>
              <a:endParaRPr lang="pt-BR" sz="600" dirty="0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8113033" y="6163929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V</a:t>
              </a:r>
              <a:endParaRPr lang="pt-BR" dirty="0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8653033" y="6163929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X</a:t>
              </a:r>
              <a:endParaRPr lang="pt-BR" dirty="0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9193033" y="6163929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Y</a:t>
              </a:r>
              <a:endParaRPr lang="pt-BR" dirty="0"/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9733544" y="6163929"/>
              <a:ext cx="540000" cy="54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 smtClean="0"/>
                <a:t>Z</a:t>
              </a:r>
              <a:endParaRPr lang="pt-BR" dirty="0"/>
            </a:p>
          </p:txBody>
        </p:sp>
        <p:cxnSp>
          <p:nvCxnSpPr>
            <p:cNvPr id="31" name="Conector reto 30"/>
            <p:cNvCxnSpPr/>
            <p:nvPr/>
          </p:nvCxnSpPr>
          <p:spPr>
            <a:xfrm>
              <a:off x="8667101" y="5636679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to 32"/>
            <p:cNvCxnSpPr/>
            <p:nvPr/>
          </p:nvCxnSpPr>
          <p:spPr>
            <a:xfrm rot="16200000">
              <a:off x="8937101" y="5891821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to 33"/>
            <p:cNvCxnSpPr/>
            <p:nvPr/>
          </p:nvCxnSpPr>
          <p:spPr>
            <a:xfrm rot="16200000">
              <a:off x="9463033" y="5892611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to 34"/>
            <p:cNvCxnSpPr/>
            <p:nvPr/>
          </p:nvCxnSpPr>
          <p:spPr>
            <a:xfrm rot="16200000">
              <a:off x="9463033" y="5352782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to 35"/>
            <p:cNvCxnSpPr/>
            <p:nvPr/>
          </p:nvCxnSpPr>
          <p:spPr>
            <a:xfrm rot="16200000">
              <a:off x="9988965" y="5353572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to 36"/>
            <p:cNvCxnSpPr/>
            <p:nvPr/>
          </p:nvCxnSpPr>
          <p:spPr>
            <a:xfrm rot="16200000">
              <a:off x="7856846" y="4821350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/>
            <p:nvPr/>
          </p:nvCxnSpPr>
          <p:spPr>
            <a:xfrm rot="16200000">
              <a:off x="8382778" y="4822140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/>
            <p:nvPr/>
          </p:nvCxnSpPr>
          <p:spPr>
            <a:xfrm rot="16200000">
              <a:off x="8937101" y="4825928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/>
            <p:nvPr/>
          </p:nvCxnSpPr>
          <p:spPr>
            <a:xfrm>
              <a:off x="8126846" y="5079824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/>
            <p:nvPr/>
          </p:nvCxnSpPr>
          <p:spPr>
            <a:xfrm>
              <a:off x="8126846" y="5626711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to 41"/>
            <p:cNvCxnSpPr/>
            <p:nvPr/>
          </p:nvCxnSpPr>
          <p:spPr>
            <a:xfrm>
              <a:off x="8667101" y="4029430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to 42"/>
            <p:cNvCxnSpPr/>
            <p:nvPr/>
          </p:nvCxnSpPr>
          <p:spPr>
            <a:xfrm rot="16200000">
              <a:off x="8397101" y="4285645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to 43"/>
            <p:cNvCxnSpPr/>
            <p:nvPr/>
          </p:nvCxnSpPr>
          <p:spPr>
            <a:xfrm rot="16200000">
              <a:off x="9477101" y="4285362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to 44"/>
            <p:cNvCxnSpPr/>
            <p:nvPr/>
          </p:nvCxnSpPr>
          <p:spPr>
            <a:xfrm rot="16200000">
              <a:off x="10017101" y="4809824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to 45"/>
            <p:cNvCxnSpPr/>
            <p:nvPr/>
          </p:nvCxnSpPr>
          <p:spPr>
            <a:xfrm>
              <a:off x="9748504" y="4541294"/>
              <a:ext cx="0" cy="540000"/>
            </a:xfrm>
            <a:prstGeom prst="line">
              <a:avLst/>
            </a:prstGeom>
            <a:ln w="539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939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Exercícios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 smtClean="0"/>
              <a:t>Dado o problema do quebra-cabeça, faça a arvore de busca em largura, profundidade e uniforme para a resolução do problema mostrado abaixo:</a:t>
            </a:r>
            <a:endParaRPr lang="pt-BR" dirty="0"/>
          </a:p>
        </p:txBody>
      </p:sp>
      <p:pic>
        <p:nvPicPr>
          <p:cNvPr id="4" name="Picture 4" descr="fig3-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79186" y="3109913"/>
            <a:ext cx="5976938" cy="306705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955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1364</TotalTime>
  <Words>418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Inteligência Artificial</vt:lpstr>
      <vt:lpstr>Busca em Profundidade</vt:lpstr>
      <vt:lpstr>Busca em Profundidade</vt:lpstr>
      <vt:lpstr>Busca em Profundidade</vt:lpstr>
      <vt:lpstr>Busca em Profundidade Interativo</vt:lpstr>
      <vt:lpstr>Busca em Profundidade Interativo</vt:lpstr>
      <vt:lpstr>Exercícios</vt:lpstr>
      <vt:lpstr>Exercícios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James Clauton</dc:creator>
  <cp:lastModifiedBy>James Clauton</cp:lastModifiedBy>
  <cp:revision>26</cp:revision>
  <dcterms:created xsi:type="dcterms:W3CDTF">2016-02-22T13:02:38Z</dcterms:created>
  <dcterms:modified xsi:type="dcterms:W3CDTF">2016-02-24T18:58:52Z</dcterms:modified>
</cp:coreProperties>
</file>